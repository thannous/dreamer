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e1dbf810994c7d" /><Relationship Type="http://schemas.openxmlformats.org/officeDocument/2006/relationships/extended-properties" Target="/docProps/app.xml" Id="Ra56fc2153d594e93" /><Relationship Type="http://schemas.openxmlformats.org/officeDocument/2006/relationships/officeDocument" Target="/ppt/presentation.xml" Id="Rbe4a339d1b92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75f718f6444e79"/>
  </p:sldMasterIdLst>
  <p:notesMasterIdLst>
    <p:notesMasterId xmlns:r="http://schemas.openxmlformats.org/officeDocument/2006/relationships" r:id="R370ae8dfad0043a9"/>
  </p:notesMasterIdLst>
  <p:sldIdLst>
    <p:sldId xmlns:r="http://schemas.openxmlformats.org/officeDocument/2006/relationships" id="256" r:id="R64a38151296a44bc"/>
    <p:sldId xmlns:r="http://schemas.openxmlformats.org/officeDocument/2006/relationships" id="257" r:id="R754c673482c6431a"/>
    <p:sldId xmlns:r="http://schemas.openxmlformats.org/officeDocument/2006/relationships" id="258" r:id="Rd135b8f7febf4025"/>
    <p:sldId xmlns:r="http://schemas.openxmlformats.org/officeDocument/2006/relationships" id="259" r:id="R5bc187e411584c16"/>
    <p:sldId xmlns:r="http://schemas.openxmlformats.org/officeDocument/2006/relationships" id="260" r:id="R60eb1c473a834dd0"/>
    <p:sldId xmlns:r="http://schemas.openxmlformats.org/officeDocument/2006/relationships" id="261" r:id="Re229f09b1d4540e7"/>
    <p:sldId xmlns:r="http://schemas.openxmlformats.org/officeDocument/2006/relationships" id="262" r:id="Rbb9cfce42ce04607"/>
    <p:sldId xmlns:r="http://schemas.openxmlformats.org/officeDocument/2006/relationships" id="263" r:id="R7428f37980be4e73"/>
    <p:sldId xmlns:r="http://schemas.openxmlformats.org/officeDocument/2006/relationships" id="264" r:id="R8b5379c1781440e4"/>
    <p:sldId xmlns:r="http://schemas.openxmlformats.org/officeDocument/2006/relationships" id="265" r:id="Rdc7de4f1bd3140f8"/>
    <p:sldId xmlns:r="http://schemas.openxmlformats.org/officeDocument/2006/relationships" id="266" r:id="R34b3071973e849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05ddb420e4d54" /><Relationship Type="http://schemas.openxmlformats.org/officeDocument/2006/relationships/slideMaster" Target="/ppt/slideMasters/slideMaster1.xml" Id="Rc475f718f6444e79" /><Relationship Type="http://schemas.openxmlformats.org/officeDocument/2006/relationships/notesMaster" Target="/ppt/notesMasters/notesMaster1.xml" Id="R370ae8dfad0043a9" /><Relationship Type="http://schemas.openxmlformats.org/officeDocument/2006/relationships/presProps" Target="/ppt/presProps.xml" Id="Ree5ee829cabd4c14" /><Relationship Type="http://schemas.openxmlformats.org/officeDocument/2006/relationships/tableStyles" Target="/ppt/tableStyles.xml" Id="Rb7a404efbc744a02" /><Relationship Type="http://schemas.openxmlformats.org/officeDocument/2006/relationships/slide" Target="/ppt/slides/slide1.xml" Id="R64a38151296a44bc" /><Relationship Type="http://schemas.openxmlformats.org/officeDocument/2006/relationships/slide" Target="/ppt/slides/slide2.xml" Id="R754c673482c6431a" /><Relationship Type="http://schemas.openxmlformats.org/officeDocument/2006/relationships/slide" Target="/ppt/slides/slide3.xml" Id="Rd135b8f7febf4025" /><Relationship Type="http://schemas.openxmlformats.org/officeDocument/2006/relationships/slide" Target="/ppt/slides/slide4.xml" Id="R5bc187e411584c16" /><Relationship Type="http://schemas.openxmlformats.org/officeDocument/2006/relationships/slide" Target="/ppt/slides/slide5.xml" Id="R60eb1c473a834dd0" /><Relationship Type="http://schemas.openxmlformats.org/officeDocument/2006/relationships/slide" Target="/ppt/slides/slide6.xml" Id="Re229f09b1d4540e7" /><Relationship Type="http://schemas.openxmlformats.org/officeDocument/2006/relationships/slide" Target="/ppt/slides/slide7.xml" Id="Rbb9cfce42ce04607" /><Relationship Type="http://schemas.openxmlformats.org/officeDocument/2006/relationships/slide" Target="/ppt/slides/slide8.xml" Id="R7428f37980be4e73" /><Relationship Type="http://schemas.openxmlformats.org/officeDocument/2006/relationships/slide" Target="/ppt/slides/slide9.xml" Id="R8b5379c1781440e4" /><Relationship Type="http://schemas.openxmlformats.org/officeDocument/2006/relationships/slide" Target="/ppt/slides/slide10.xml" Id="Rdc7de4f1bd3140f8" /><Relationship Type="http://schemas.openxmlformats.org/officeDocument/2006/relationships/slide" Target="/ppt/slides/slide11.xml" Id="R34b3071973e849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ee1c887c8642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78fab4f7d4dfb" /><Relationship Type="http://schemas.openxmlformats.org/officeDocument/2006/relationships/notesMaster" Target="/ppt/notesMasters/notesMaster1.xml" Id="Red9076b594ce40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1e5c787fed4401" /><Relationship Type="http://schemas.openxmlformats.org/officeDocument/2006/relationships/notesMaster" Target="/ppt/notesMasters/notesMaster1.xml" Id="Rf647be358ecf40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8a0287bdd949f6" /><Relationship Type="http://schemas.openxmlformats.org/officeDocument/2006/relationships/notesMaster" Target="/ppt/notesMasters/notesMaster1.xml" Id="Rfb8e58761c864e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c93b449284c44" /><Relationship Type="http://schemas.openxmlformats.org/officeDocument/2006/relationships/notesMaster" Target="/ppt/notesMasters/notesMaster1.xml" Id="Rc4e259a7fdcc41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3c98890fc44379" /><Relationship Type="http://schemas.openxmlformats.org/officeDocument/2006/relationships/notesMaster" Target="/ppt/notesMasters/notesMaster1.xml" Id="Rc1d4446ccadb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a09ca314a0460b" /><Relationship Type="http://schemas.openxmlformats.org/officeDocument/2006/relationships/notesMaster" Target="/ppt/notesMasters/notesMaster1.xml" Id="R42de8b1c43f443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d48676c3e943fb" /><Relationship Type="http://schemas.openxmlformats.org/officeDocument/2006/relationships/notesMaster" Target="/ppt/notesMasters/notesMaster1.xml" Id="Reb4db845aac546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3ef3510eb84a78" /><Relationship Type="http://schemas.openxmlformats.org/officeDocument/2006/relationships/notesMaster" Target="/ppt/notesMasters/notesMaster1.xml" Id="R2896cecf4c0e47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dc5a28a474642" /><Relationship Type="http://schemas.openxmlformats.org/officeDocument/2006/relationships/notesMaster" Target="/ppt/notesMasters/notesMaster1.xml" Id="Rc1518953dda14c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fbd9e5a2d04e4d" /><Relationship Type="http://schemas.openxmlformats.org/officeDocument/2006/relationships/notesMaster" Target="/ppt/notesMasters/notesMaster1.xml" Id="Rd500d449e16f4a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ee8307c7054385" /><Relationship Type="http://schemas.openxmlformats.org/officeDocument/2006/relationships/notesMaster" Target="/ppt/notesMasters/notesMaster1.xml" Id="R33b28c20fcff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e455237d943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6ba81c0134116" /><Relationship Type="http://schemas.openxmlformats.org/officeDocument/2006/relationships/slideLayout" Target="/ppt/slideLayouts/slideLayout1.xml" Id="Rcbb8238fa3ce43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b8238fa3ce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e258509724188" /><Relationship Type="http://schemas.openxmlformats.org/officeDocument/2006/relationships/notesSlide" Target="/ppt/notesSlides/notesSlide1.xml" Id="R45caa9ad37d24b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1493a5f3a4627" /><Relationship Type="http://schemas.openxmlformats.org/officeDocument/2006/relationships/notesSlide" Target="/ppt/notesSlides/notesSlide2.xml" Id="R37c820f3a5d64b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8c3ca167b4495" /><Relationship Type="http://schemas.openxmlformats.org/officeDocument/2006/relationships/chart" Target="/ppt/slides/charts/chart1.xml" Id="R63bb8a69ee4a4337" /><Relationship Type="http://schemas.openxmlformats.org/officeDocument/2006/relationships/notesSlide" Target="/ppt/notesSlides/notesSlide3.xml" Id="R08fc3858aee94c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56f4dfaa24896" /><Relationship Type="http://schemas.openxmlformats.org/officeDocument/2006/relationships/notesSlide" Target="/ppt/notesSlides/notesSlide4.xml" Id="R2edb971714d44c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6716534c04b43" /><Relationship Type="http://schemas.openxmlformats.org/officeDocument/2006/relationships/notesSlide" Target="/ppt/notesSlides/notesSlide5.xml" Id="R35963dc17a444d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a589bde5f4852" /><Relationship Type="http://schemas.openxmlformats.org/officeDocument/2006/relationships/image" Target="/ppt/media/image.jpeg" Id="Re3a453d8a8194762" /><Relationship Type="http://schemas.openxmlformats.org/officeDocument/2006/relationships/image" Target="/ppt/media/image2.jpeg" Id="Re0bdde9e3d834b01" /><Relationship Type="http://schemas.openxmlformats.org/officeDocument/2006/relationships/image" Target="/ppt/media/image3.jpeg" Id="R83d3233b312945aa" /><Relationship Type="http://schemas.openxmlformats.org/officeDocument/2006/relationships/image" Target="/ppt/media/image4.jpeg" Id="R47ef342417a74ddd" /><Relationship Type="http://schemas.openxmlformats.org/officeDocument/2006/relationships/notesSlide" Target="/ppt/notesSlides/notesSlide6.xml" Id="R14fd2a71704e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88071abc64067" /><Relationship Type="http://schemas.openxmlformats.org/officeDocument/2006/relationships/notesSlide" Target="/ppt/notesSlides/notesSlide7.xml" Id="Rddb3481504574c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fe24abba942d7" /><Relationship Type="http://schemas.openxmlformats.org/officeDocument/2006/relationships/notesSlide" Target="/ppt/notesSlides/notesSlide8.xml" Id="R3e24fa29d4fd48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e9723bf14320" /><Relationship Type="http://schemas.openxmlformats.org/officeDocument/2006/relationships/notesSlide" Target="/ppt/notesSlides/notesSlide9.xml" Id="R7b8ef234440248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0269ed39340ed" /><Relationship Type="http://schemas.openxmlformats.org/officeDocument/2006/relationships/notesSlide" Target="/ppt/notesSlides/notesSlide10.xml" Id="Rf2c5f9f493f544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e363d73a24446" /><Relationship Type="http://schemas.openxmlformats.org/officeDocument/2006/relationships/notesSlide" Target="/ppt/notesSlides/notesSlide11.xml" Id="R3411b687c4974d7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Evolution vs periode precedente (%)</c:v>
          </c:tx>
          <c:spPr>
            <a:solidFill xmlns:a="http://schemas.openxmlformats.org/drawingml/2006/main">
              <a:srgbClr val="3D8DFF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4"/>
              <c:pt idx="0">
                <c:v>Impressions</c:v>
              </c:pt>
              <c:pt idx="1">
                <c:v>Acquisitions</c:v>
              </c:pt>
              <c:pt idx="2">
                <c:v>1res ouvertures</c:v>
              </c:pt>
              <c:pt idx="3">
                <c:v>Actifs mensuels</c:v>
              </c:pt>
            </c:strLit>
          </c:cat>
          <c:val>
            <c:numLit>
              <c:formatCode>0" %"</c:formatCode>
              <c:ptCount val="4"/>
              <c:pt idx="0">
                <c:v>-44</c:v>
              </c:pt>
              <c:pt idx="1">
                <c:v>250</c:v>
              </c:pt>
              <c:pt idx="2">
                <c:v>233</c:v>
              </c:pt>
              <c:pt idx="3">
                <c:v>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Variation (%)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95F6A44-7EDF-469C-BF07-2B769C48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V3 : lancement réussi,
portée à accélérer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7B95EA4-4136-4C1A-99BB-1B6813D4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Rapport de lancement • 16 juillet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553EFDE-B5B3-4CF1-97BD-8EEA9751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NOCTALIA • GOOGLE PLAY</a:t>
            </a:r>
          </a:p>
        </p:txBody>
      </p:sp>
      <p:sp>
        <p:nvSpPr>
          <p:cNvPr id="4" name="deck-context">
            <a:extLst xmlns:a="http://schemas.openxmlformats.org/drawingml/2006/main">
              <a:ext uri="{FF2B5EF4-FFF2-40B4-BE49-F238E27FC236}">
                <a16:creationId xmlns:a16="http://schemas.microsoft.com/office/drawing/2014/main" id="{D0EFEDE7-671C-405E-ACCC-DFFB35D2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VERSION 3.0.0</a:t>
            </a:r>
          </a:p>
        </p:txBody>
      </p:sp>
    </p:spTree>
    <p:extLst>
      <p:ext uri="{BB962C8B-B14F-4D97-AF65-F5344CB8AC3E}">
        <p14:creationId xmlns:p14="http://schemas.microsoft.com/office/powerpoint/2010/main" val="1492403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A74032B-0BEF-4E92-9A66-DA25CF6D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94F89CC-443E-4E35-9967-BCF7C1CF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0471B6A-717A-4B25-AEF9-4824353C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8285AEC8-20C6-48E5-AE48-E05E5472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AC2EA27-FF5B-42EC-9F00-60DB8147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V3 est disponible à 100 %, mais ses données propres ne sont pas encore consolidées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037D67D-F47A-44E0-B09B-28C48956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Déploiement production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0DF78B-5736-4C01-8D46-675E78AB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Cible Android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222A4C8-CA67-4393-BADE-C214DF66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Appareils compatibles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FE99AE6-0239-4335-BE5E-EC9E476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100 %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C4645D9-10D0-4F19-813F-F652251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7 556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6E685C8-0CD3-449C-B9C8-B530282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SDK 36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1C37CE7-B750-4536-8FFB-610C922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ÉTAT DE LA RELEASE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Version 3.0.0 (code 38), publiée le 16 juillet à 15:48. Les indicateurs de crash, ANR et installations de la release ne sont pas encore disponibles.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027113F-2B15-4052-B99F-3F16A2B8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détails de la release 3.0.0 — collecte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10942897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35B104B-8D5F-4793-9136-0816FE0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B5022D4-5E9E-41EB-A7D6-8E243BA6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Visibilité en baisse, croissance en hausse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AD3ADA9-A5E4-4E93-80D8-4842374C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378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E522FD61-BDBD-4F7A-8847-2E14E906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impressions appareil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CFD8018-BEBF-46B2-A1BA-B17E761C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CE81E069-F25F-4BBB-975E-3DA74DA9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acquisitions appareil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9E419DFB-287B-411B-AF9F-681C1FB8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EF12803B-DDD8-4C04-A12F-5B15341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287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 SIGNAL EST ENCOURAGEANT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Acquisition et activation progressent fortement, mais sur une base encore faible. La priorité n°1 reste d’augmenter le trafic qualifié vers la fiche.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bb8a69ee4a4337"/>
          </a:graphicData>
        </a:graphic>
      </p:graphicFrame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5104B91-DF65-4C12-AECF-B826BDD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vue Croissance — 28 derniers jours vs période précédente.</a:t>
            </a:r>
          </a:p>
        </p:txBody>
      </p:sp>
    </p:spTree>
    <p:extLst>
      <p:ext uri="{BB962C8B-B14F-4D97-AF65-F5344CB8AC3E}">
        <p14:creationId xmlns:p14="http://schemas.microsoft.com/office/powerpoint/2010/main" val="15668348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02D0F9C-36C0-4D81-9977-973B29E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9E3224B-A225-4B45-B2D3-83731329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fiche convertit correctement ; le principal frein est le manque de trafic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20C477D-703C-45E5-9D03-8F374F1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474A1F2-25D5-44C0-A143-54CC76B1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Portée à reconstruire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0F87F15-4007-4DBE-9051-D66A65CF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378 impressions sur 28 jours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-44 % vs période précédente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acquisitions via exploration sur 90 jours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E6226B5-1469-47C0-A160-F0B5ADB9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6EA286C-C799-4311-A3A6-FA76CB6D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Conversion à consolider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77E1977-9E7E-4C75-ACE6-3E8B2F8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21,4 % sur la fiche par défaut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23,47 % dans la vue Croissance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 acquisitions, 10 premières ouvertures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A75BC11-FACA-466F-98F2-74BA730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DIAGNOSTIC ACQUISITION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fiche par défaut convertit 21,4 % de ses visiteurs ; la vue Croissance indique 23,47 % sur sa propre fenêtre. Avec 378 impressions (-44 %), l’enjeu est d’abord la portée, puis l’optimisation incrémentale.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513836B-0EE2-4052-8115-147236C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Fiches Play Store et vue Croissance — collecte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10788707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6A43DA0-C0B1-4413-BA83-E5AE65D2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9E8A52E-18EE-46ED-9625-F16226CC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mise à niveau de la fiche V3 est engagée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CB440AC-A709-4314-B19E-F4180C18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Notes de version absentes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Ajouter un résumé V3 centré sur les bénéfices visibles par l’utilisateur.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71BF35E-4947-4A0A-B369-7E09316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Fiche datée du 30 janvier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Actualiser le texte et les premiers visuels avec les fonctions V3.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C0B7F64-E747-4FE4-8B88-253D0E3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Aucun test en cours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Tester l’ordre et la promesse des captures dès que le volume le permet.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44488FA-3360-47F0-A5D9-CD12D3A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Créatifs V3 prêts</a:t>
            </a:r>
            <a:br/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captures sombres au format 1080 × 1920, sans contenu privé.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B4F03B3-E9E3-4F76-922C-DD9AA92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Google Play Console, fiche en-US et tests de fiche — collecte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353356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F1028CA-6A2D-47B7-BD27-CDB7A1DE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refonte sombre raconte enfin la V3</a:t>
            </a:r>
          </a:p>
        </p:txBody>
      </p:sp>
      <p:sp>
        <p:nvSpPr>
          <p:cNvPr id="2" name="visual-subtitle">
            <a:extLst xmlns:a="http://schemas.openxmlformats.org/drawingml/2006/main">
              <a:ext uri="{FF2B5EF4-FFF2-40B4-BE49-F238E27FC236}">
                <a16:creationId xmlns:a16="http://schemas.microsoft.com/office/drawing/2014/main" id="{AC86BB8C-FA63-4AAC-B245-603957D4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045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0454D"/>
                </a:solidFill>
                <a:latin typeface="Helvetica Neue"/>
                <a:ea typeface="Helvetica Neue"/>
                <a:cs typeface="Helvetica Neue"/>
              </a:rPr>
              <a:t>Captures réelles sur iPhone 17 Simulator, compte connecté et apparence sombre.</a:t>
            </a:r>
          </a:p>
        </p:txBody>
      </p:sp>
      <p:sp>
        <p:nvSpPr>
          <p:cNvPr id="3" name="01-accueil-dark.jpg-backing">
            <a:extLst xmlns:a="http://schemas.openxmlformats.org/drawingml/2006/main">
              <a:ext uri="{FF2B5EF4-FFF2-40B4-BE49-F238E27FC236}">
                <a16:creationId xmlns:a16="http://schemas.microsoft.com/office/drawing/2014/main" id="{F34DFAC5-011E-42BA-97F4-776DF0FA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228850" cy="3905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90D1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453d8a8194762"/>
          <a:stretch xmlns:a="http://schemas.openxmlformats.org/drawingml/2006/main"/>
        </p:blipFill>
        <p:spPr>
          <a:xfrm xmlns:a="http://schemas.openxmlformats.org/drawingml/2006/main">
            <a:off x="819150" y="1601258"/>
            <a:ext cx="2152650" cy="3826933"/>
          </a:xfrm>
          <a:prstGeom xmlns:a="http://schemas.openxmlformats.org/drawingml/2006/main" prst="rect">
            <a:avLst/>
          </a:prstGeom>
        </p:spPr>
      </p:pic>
      <p:sp>
        <p:nvSpPr>
          <p:cNvPr id="5" name="caption-1">
            <a:extLst xmlns:a="http://schemas.openxmlformats.org/drawingml/2006/main">
              <a:ext uri="{FF2B5EF4-FFF2-40B4-BE49-F238E27FC236}">
                <a16:creationId xmlns:a16="http://schemas.microsoft.com/office/drawing/2014/main" id="{AA02D59F-9954-4336-B00E-10EAD0A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Découvrir</a:t>
            </a:r>
          </a:p>
        </p:txBody>
      </p:sp>
      <p:sp>
        <p:nvSpPr>
          <p:cNvPr id="6" name="05-capture-vocale-dark.jpg-backing">
            <a:extLst xmlns:a="http://schemas.openxmlformats.org/drawingml/2006/main">
              <a:ext uri="{FF2B5EF4-FFF2-40B4-BE49-F238E27FC236}">
                <a16:creationId xmlns:a16="http://schemas.microsoft.com/office/drawing/2014/main" id="{25BCC06C-D54D-43D3-91EC-1C3D12AA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62100"/>
            <a:ext cx="2228850" cy="3905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90D1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dde9e3d834b01"/>
          <a:stretch xmlns:a="http://schemas.openxmlformats.org/drawingml/2006/main"/>
        </p:blipFill>
        <p:spPr>
          <a:xfrm xmlns:a="http://schemas.openxmlformats.org/drawingml/2006/main">
            <a:off x="3562350" y="1601258"/>
            <a:ext cx="2152650" cy="3826933"/>
          </a:xfrm>
          <a:prstGeom xmlns:a="http://schemas.openxmlformats.org/drawingml/2006/main" prst="rect">
            <a:avLst/>
          </a:prstGeom>
        </p:spPr>
      </p:pic>
      <p:sp>
        <p:nvSpPr>
          <p:cNvPr id="8" name="caption-2">
            <a:extLst xmlns:a="http://schemas.openxmlformats.org/drawingml/2006/main">
              <a:ext uri="{FF2B5EF4-FFF2-40B4-BE49-F238E27FC236}">
                <a16:creationId xmlns:a16="http://schemas.microsoft.com/office/drawing/2014/main" id="{C854BF36-9534-4060-A819-603709F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197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Capturer</a:t>
            </a:r>
          </a:p>
        </p:txBody>
      </p:sp>
      <p:sp>
        <p:nvSpPr>
          <p:cNvPr id="9" name="02-dictionnaire-symboles-dark.jpg-backing">
            <a:extLst xmlns:a="http://schemas.openxmlformats.org/drawingml/2006/main">
              <a:ext uri="{FF2B5EF4-FFF2-40B4-BE49-F238E27FC236}">
                <a16:creationId xmlns:a16="http://schemas.microsoft.com/office/drawing/2014/main" id="{EB9447D5-CF13-4F62-8C12-1DF1CA71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2228850" cy="3905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90D1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3233b312945aa"/>
          <a:stretch xmlns:a="http://schemas.openxmlformats.org/drawingml/2006/main"/>
        </p:blipFill>
        <p:spPr>
          <a:xfrm xmlns:a="http://schemas.openxmlformats.org/drawingml/2006/main">
            <a:off x="6305550" y="1601258"/>
            <a:ext cx="2152650" cy="3826933"/>
          </a:xfrm>
          <a:prstGeom xmlns:a="http://schemas.openxmlformats.org/drawingml/2006/main" prst="rect">
            <a:avLst/>
          </a:prstGeom>
        </p:spPr>
      </p:pic>
      <p:sp>
        <p:nvSpPr>
          <p:cNvPr id="11" name="caption-3">
            <a:extLst xmlns:a="http://schemas.openxmlformats.org/drawingml/2006/main">
              <a:ext uri="{FF2B5EF4-FFF2-40B4-BE49-F238E27FC236}">
                <a16:creationId xmlns:a16="http://schemas.microsoft.com/office/drawing/2014/main" id="{7B3DB98C-63D2-4AB6-B6FA-56E28142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Comprendre</a:t>
            </a:r>
          </a:p>
        </p:txBody>
      </p:sp>
      <p:sp>
        <p:nvSpPr>
          <p:cNvPr id="12" name="07-statistiques-dark.jpg-backing">
            <a:extLst xmlns:a="http://schemas.openxmlformats.org/drawingml/2006/main">
              <a:ext uri="{FF2B5EF4-FFF2-40B4-BE49-F238E27FC236}">
                <a16:creationId xmlns:a16="http://schemas.microsoft.com/office/drawing/2014/main" id="{738AF855-E114-437B-8ABC-707FCA9A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62100"/>
            <a:ext cx="2228850" cy="39052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90D1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f342417a74ddd"/>
          <a:stretch xmlns:a="http://schemas.openxmlformats.org/drawingml/2006/main"/>
        </p:blipFill>
        <p:spPr>
          <a:xfrm xmlns:a="http://schemas.openxmlformats.org/drawingml/2006/main">
            <a:off x="9048750" y="1601258"/>
            <a:ext cx="2152650" cy="3826933"/>
          </a:xfrm>
          <a:prstGeom xmlns:a="http://schemas.openxmlformats.org/drawingml/2006/main" prst="rect">
            <a:avLst/>
          </a:prstGeom>
        </p:spPr>
      </p:pic>
      <p:sp>
        <p:nvSpPr>
          <p:cNvPr id="14" name="caption-4">
            <a:extLst xmlns:a="http://schemas.openxmlformats.org/drawingml/2006/main">
              <a:ext uri="{FF2B5EF4-FFF2-40B4-BE49-F238E27FC236}">
                <a16:creationId xmlns:a16="http://schemas.microsoft.com/office/drawing/2014/main" id="{52B54188-C5FA-4FF2-9A6E-2C168348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197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Progresser</a:t>
            </a:r>
          </a:p>
        </p:txBody>
      </p:sp>
      <p:sp>
        <p:nvSpPr>
          <p:cNvPr id="15" name="source-06">
            <a:extLst xmlns:a="http://schemas.openxmlformats.org/drawingml/2006/main">
              <a:ext uri="{FF2B5EF4-FFF2-40B4-BE49-F238E27FC236}">
                <a16:creationId xmlns:a16="http://schemas.microsoft.com/office/drawing/2014/main" id="{A2062FEC-E48C-4906-AC18-F3EDD33C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 : captures iOS réelles du 16/07/2026 ; composition 9:16 sans altération de l’interface.</a:t>
            </a:r>
          </a:p>
        </p:txBody>
      </p:sp>
      <p:sp>
        <p:nvSpPr>
          <p:cNvPr id="16" name="page-06">
            <a:extLst xmlns:a="http://schemas.openxmlformats.org/drawingml/2006/main">
              <a:ext uri="{FF2B5EF4-FFF2-40B4-BE49-F238E27FC236}">
                <a16:creationId xmlns:a16="http://schemas.microsoft.com/office/drawing/2014/main" id="{A188B62E-94BA-4256-91CF-6DEE9D20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5222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ckage-title">
            <a:extLst xmlns:a="http://schemas.openxmlformats.org/drawingml/2006/main">
              <a:ext uri="{FF2B5EF4-FFF2-40B4-BE49-F238E27FC236}">
                <a16:creationId xmlns:a16="http://schemas.microsoft.com/office/drawing/2014/main" id="{95725DE3-FF03-4DFC-9C0A-57AAA18B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fiche fr-FR est prête et publiée sur Google Play</a:t>
            </a:r>
          </a:p>
        </p:txBody>
      </p:sp>
      <p:sp>
        <p:nvSpPr>
          <p:cNvPr id="2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E9443AE2-C806-4C39-B9B1-3DD5C25C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3571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AD046740-ED81-4668-BCAD-C89F7A0E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478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4F737BA7-DC92-408C-9DE6-6EE899EE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52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captures téléphone</a:t>
            </a:r>
          </a:p>
        </p:txBody>
      </p:sp>
      <p:sp>
        <p:nvSpPr>
          <p:cNvPr id="5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24D261F3-B2F9-42D7-AE73-EE96F2C9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1238250"/>
            <a:ext cx="3571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B16625A7-B013-46C8-9975-03F600BC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14478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1080 × 1920</a:t>
            </a:r>
          </a:p>
        </p:txBody>
      </p:sp>
      <p:sp>
        <p:nvSpPr>
          <p:cNvPr id="7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41257DC-0212-48BA-9E06-7B96D4F5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1952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format vertical 9:16</a:t>
            </a:r>
          </a:p>
        </p:txBody>
      </p:sp>
      <p:sp>
        <p:nvSpPr>
          <p:cNvPr id="8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1D4F154E-13FF-49D8-9E01-4DF0CC0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8250"/>
            <a:ext cx="3571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84F211B0-D6D2-42A9-B429-AF5BE49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fr-FR</a:t>
            </a:r>
          </a:p>
        </p:txBody>
      </p:sp>
      <p:sp>
        <p:nvSpPr>
          <p:cNvPr id="10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4A2F65C1-B290-49A7-967A-1F8CCE5D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localisation publiée</a:t>
            </a:r>
          </a:p>
        </p:txBody>
      </p:sp>
      <p:sp>
        <p:nvSpPr>
          <p:cNvPr id="11" name="order-panel">
            <a:extLst xmlns:a="http://schemas.openxmlformats.org/drawingml/2006/main">
              <a:ext uri="{FF2B5EF4-FFF2-40B4-BE49-F238E27FC236}">
                <a16:creationId xmlns:a16="http://schemas.microsoft.com/office/drawing/2014/main" id="{4440B22B-B8CA-4987-9F13-78144AD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6225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order-heading">
            <a:extLst xmlns:a="http://schemas.openxmlformats.org/drawingml/2006/main">
              <a:ext uri="{FF2B5EF4-FFF2-40B4-BE49-F238E27FC236}">
                <a16:creationId xmlns:a16="http://schemas.microsoft.com/office/drawing/2014/main" id="{CEC51CDD-8071-438B-831E-129EF89D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Ordre recommandé</a:t>
            </a:r>
          </a:p>
        </p:txBody>
      </p:sp>
      <p:sp>
        <p:nvSpPr>
          <p:cNvPr id="13" name="order-body">
            <a:extLst xmlns:a="http://schemas.openxmlformats.org/drawingml/2006/main">
              <a:ext uri="{FF2B5EF4-FFF2-40B4-BE49-F238E27FC236}">
                <a16:creationId xmlns:a16="http://schemas.microsoft.com/office/drawing/2014/main" id="{57A7AFA5-4419-4E83-ABB9-FE2224C8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905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Accueil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Capture vocale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Dictionnaire des symboles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 Statistiques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 Guides des rêves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  Exemple de symbole</a:t>
            </a:r>
          </a:p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 Choix du mode de capture</a:t>
            </a:r>
          </a:p>
        </p:txBody>
      </p:sp>
      <p:sp>
        <p:nvSpPr>
          <p:cNvPr id="14" name="copy-panel">
            <a:extLst xmlns:a="http://schemas.openxmlformats.org/drawingml/2006/main">
              <a:ext uri="{FF2B5EF4-FFF2-40B4-BE49-F238E27FC236}">
                <a16:creationId xmlns:a16="http://schemas.microsoft.com/office/drawing/2014/main" id="{7C9744D7-11B3-4B8A-9572-273DA048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62250"/>
            <a:ext cx="65055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py-heading">
            <a:extLst xmlns:a="http://schemas.openxmlformats.org/drawingml/2006/main">
              <a:ext uri="{FF2B5EF4-FFF2-40B4-BE49-F238E27FC236}">
                <a16:creationId xmlns:a16="http://schemas.microsoft.com/office/drawing/2014/main" id="{68FCD9E8-F45B-4E85-A1BB-B183401D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48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Métadonnées fr-FR publiées</a:t>
            </a:r>
          </a:p>
        </p:txBody>
      </p:sp>
      <p:sp>
        <p:nvSpPr>
          <p:cNvPr id="16" name="copy-title-label">
            <a:extLst xmlns:a="http://schemas.openxmlformats.org/drawingml/2006/main">
              <a:ext uri="{FF2B5EF4-FFF2-40B4-BE49-F238E27FC236}">
                <a16:creationId xmlns:a16="http://schemas.microsoft.com/office/drawing/2014/main" id="{295365BE-2400-417E-9159-94326026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81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Titre · 27/30</a:t>
            </a:r>
          </a:p>
        </p:txBody>
      </p:sp>
      <p:sp>
        <p:nvSpPr>
          <p:cNvPr id="17" name="copy-title">
            <a:extLst xmlns:a="http://schemas.openxmlformats.org/drawingml/2006/main">
              <a:ext uri="{FF2B5EF4-FFF2-40B4-BE49-F238E27FC236}">
                <a16:creationId xmlns:a16="http://schemas.microsoft.com/office/drawing/2014/main" id="{F6A91917-CB71-429E-9F30-2530D89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481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Noctalia: Journal de Rêves</a:t>
            </a:r>
          </a:p>
        </p:txBody>
      </p:sp>
      <p:sp>
        <p:nvSpPr>
          <p:cNvPr id="18" name="copy-short-label">
            <a:extLst xmlns:a="http://schemas.openxmlformats.org/drawingml/2006/main">
              <a:ext uri="{FF2B5EF4-FFF2-40B4-BE49-F238E27FC236}">
                <a16:creationId xmlns:a16="http://schemas.microsoft.com/office/drawing/2014/main" id="{2E643AF5-6D32-4AED-938A-1C30A4EB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05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Description courte · 79/80</a:t>
            </a:r>
          </a:p>
        </p:txBody>
      </p:sp>
      <p:sp>
        <p:nvSpPr>
          <p:cNvPr id="19" name="copy-short">
            <a:extLst xmlns:a="http://schemas.openxmlformats.org/drawingml/2006/main">
              <a:ext uri="{FF2B5EF4-FFF2-40B4-BE49-F238E27FC236}">
                <a16:creationId xmlns:a16="http://schemas.microsoft.com/office/drawing/2014/main" id="{9873BF3A-C07B-479F-BDAB-3D0FE35D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720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 tes rêves à la voix, explore leurs symboles et suis les motifs récurrents.</a:t>
            </a:r>
          </a:p>
        </p:txBody>
      </p:sp>
      <p:sp>
        <p:nvSpPr>
          <p:cNvPr id="20" name="copy-release">
            <a:extLst xmlns:a="http://schemas.openxmlformats.org/drawingml/2006/main">
              <a:ext uri="{FF2B5EF4-FFF2-40B4-BE49-F238E27FC236}">
                <a16:creationId xmlns:a16="http://schemas.microsoft.com/office/drawing/2014/main" id="{0D3068E5-6DF7-4BBD-A770-346C0DD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14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Description longue conservée · 3 541 caractères</a:t>
            </a:r>
          </a:p>
        </p:txBody>
      </p:sp>
      <p:sp>
        <p:nvSpPr>
          <p:cNvPr id="21" name="source-07">
            <a:extLst xmlns:a="http://schemas.openxmlformats.org/drawingml/2006/main">
              <a:ext uri="{FF2B5EF4-FFF2-40B4-BE49-F238E27FC236}">
                <a16:creationId xmlns:a16="http://schemas.microsoft.com/office/drawing/2014/main" id="{D16DDE4B-CD1D-4B4C-BEA8-934A6C28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Conforme aux contraintes Google Play : JPEG, 9:16, minimum 1080 px et 4 captures ou plus.</a:t>
            </a:r>
          </a:p>
        </p:txBody>
      </p:sp>
      <p:sp>
        <p:nvSpPr>
          <p:cNvPr id="22" name="page-07">
            <a:extLst xmlns:a="http://schemas.openxmlformats.org/drawingml/2006/main">
              <a:ext uri="{FF2B5EF4-FFF2-40B4-BE49-F238E27FC236}">
                <a16:creationId xmlns:a16="http://schemas.microsoft.com/office/drawing/2014/main" id="{FB3696ED-A992-47C1-9732-2F69DFD4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65384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375CE3A-967D-43B9-9D95-DECDF0B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E9D6A63-AEAA-4A9F-944B-49A40A65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Trois sources officielles suffisent pour automatiser le suivi V3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C8184D0-2782-4DC8-ABA0-AAACE10B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BE5F8EC-B40A-4B89-B667-7EF940EA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C8A428B-6001-4C04-A007-1C038EBC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25BF932D-8F99-49AC-8E9D-3931416C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F0AEDD4F-85B3-4E8A-838D-97ECFEB6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Publishing API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Release, piste, versionCode, statut de déploiement et notes de version.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73280D6-7D90-44F5-A0AA-089B236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C7421F3-5E7F-4663-8605-3D345C8D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Reporting API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Crashs, ANR, anomalies et problèmes de qualité ventilés par version.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42F5C435-7E6F-43C1-BEC6-45A2274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55300C2-3A04-49AC-8DC3-561CA83F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Exports Cloud Storage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Installations, trafic, conversion, acquisition et notes dans des CSV mensuels.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FEB58AA-1839-4DD0-BDC6-334480D8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Qualité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20DFF77E-1B07-41FE-B707-D72BFC4B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4864C18-1A40-451C-AD53-4ECE212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Croissance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5374EFD-20A3-4C57-BF1A-098A68B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Sources : developers.google.com/android-publisher • developers.google.com/play/developer/reporting • support.google.com/.../6135870</a:t>
            </a:r>
          </a:p>
        </p:txBody>
      </p:sp>
    </p:spTree>
    <p:extLst>
      <p:ext uri="{BB962C8B-B14F-4D97-AF65-F5344CB8AC3E}">
        <p14:creationId xmlns:p14="http://schemas.microsoft.com/office/powerpoint/2010/main" val="1508850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pi-status-title">
            <a:extLst xmlns:a="http://schemas.openxmlformats.org/drawingml/2006/main">
              <a:ext uri="{FF2B5EF4-FFF2-40B4-BE49-F238E27FC236}">
                <a16:creationId xmlns:a16="http://schemas.microsoft.com/office/drawing/2014/main" id="{32B7EB59-A729-4B79-B77A-EA91D1B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Google Play : publication fr-FR vérifiée</a:t>
            </a:r>
          </a:p>
        </p:txBody>
      </p:sp>
      <p:sp>
        <p:nvSpPr>
          <p:cNvPr id="2" name="api-card-1">
            <a:extLst xmlns:a="http://schemas.openxmlformats.org/drawingml/2006/main">
              <a:ext uri="{FF2B5EF4-FFF2-40B4-BE49-F238E27FC236}">
                <a16:creationId xmlns:a16="http://schemas.microsoft.com/office/drawing/2014/main" id="{FA59E0D3-9A7A-4817-A784-F580BAD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47800"/>
            <a:ext cx="3571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pi-state-1">
            <a:extLst xmlns:a="http://schemas.openxmlformats.org/drawingml/2006/main">
              <a:ext uri="{FF2B5EF4-FFF2-40B4-BE49-F238E27FC236}">
                <a16:creationId xmlns:a16="http://schemas.microsoft.com/office/drawing/2014/main" id="{4336D9C4-02D7-47FB-912B-C1D21DAF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859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ACTIVÉE</a:t>
            </a:r>
          </a:p>
        </p:txBody>
      </p:sp>
      <p:sp>
        <p:nvSpPr>
          <p:cNvPr id="4" name="api-label-1">
            <a:extLst xmlns:a="http://schemas.openxmlformats.org/drawingml/2006/main">
              <a:ext uri="{FF2B5EF4-FFF2-40B4-BE49-F238E27FC236}">
                <a16:creationId xmlns:a16="http://schemas.microsoft.com/office/drawing/2014/main" id="{2F0A78E2-1C29-463D-ADF2-77FDAEC9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Android Publisher API</a:t>
            </a:r>
          </a:p>
        </p:txBody>
      </p:sp>
      <p:sp>
        <p:nvSpPr>
          <p:cNvPr id="5" name="api-detail-1">
            <a:extLst xmlns:a="http://schemas.openxmlformats.org/drawingml/2006/main">
              <a:ext uri="{FF2B5EF4-FFF2-40B4-BE49-F238E27FC236}">
                <a16:creationId xmlns:a16="http://schemas.microsoft.com/office/drawing/2014/main" id="{7EF349A3-D047-479D-AC8E-42FA386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717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androidpublisher.googleapis.com</a:t>
            </a:r>
          </a:p>
        </p:txBody>
      </p:sp>
      <p:sp>
        <p:nvSpPr>
          <p:cNvPr id="6" name="api-card-2">
            <a:extLst xmlns:a="http://schemas.openxmlformats.org/drawingml/2006/main">
              <a:ext uri="{FF2B5EF4-FFF2-40B4-BE49-F238E27FC236}">
                <a16:creationId xmlns:a16="http://schemas.microsoft.com/office/drawing/2014/main" id="{01665254-6CD1-47D4-AA47-66640479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1447800"/>
            <a:ext cx="3571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pi-state-2">
            <a:extLst xmlns:a="http://schemas.openxmlformats.org/drawingml/2006/main">
              <a:ext uri="{FF2B5EF4-FFF2-40B4-BE49-F238E27FC236}">
                <a16:creationId xmlns:a16="http://schemas.microsoft.com/office/drawing/2014/main" id="{4B338028-35C2-4B87-9436-AC1BC56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16859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AUTORISÉ</a:t>
            </a:r>
          </a:p>
        </p:txBody>
      </p:sp>
      <p:sp>
        <p:nvSpPr>
          <p:cNvPr id="8" name="api-label-2">
            <a:extLst xmlns:a="http://schemas.openxmlformats.org/drawingml/2006/main">
              <a:ext uri="{FF2B5EF4-FFF2-40B4-BE49-F238E27FC236}">
                <a16:creationId xmlns:a16="http://schemas.microsoft.com/office/drawing/2014/main" id="{009B6481-B30D-4B9A-B6C7-E6BD528C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20955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Projet GCP</a:t>
            </a:r>
          </a:p>
        </p:txBody>
      </p:sp>
      <p:sp>
        <p:nvSpPr>
          <p:cNvPr id="9" name="api-detail-2">
            <a:extLst xmlns:a="http://schemas.openxmlformats.org/drawingml/2006/main">
              <a:ext uri="{FF2B5EF4-FFF2-40B4-BE49-F238E27FC236}">
                <a16:creationId xmlns:a16="http://schemas.microsoft.com/office/drawing/2014/main" id="{17075824-0ECE-4CE3-A383-C7CCA01B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763" y="25717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dreamweaver</a:t>
            </a:r>
          </a:p>
          <a:p xmlns:a="http://schemas.openxmlformats.org/drawingml/2006/main">
            <a:pPr algn="l">
              <a:def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gen-lang-client-0336445544</a:t>
            </a:r>
          </a:p>
        </p:txBody>
      </p:sp>
      <p:sp>
        <p:nvSpPr>
          <p:cNvPr id="10" name="api-card-3">
            <a:extLst xmlns:a="http://schemas.openxmlformats.org/drawingml/2006/main">
              <a:ext uri="{FF2B5EF4-FFF2-40B4-BE49-F238E27FC236}">
                <a16:creationId xmlns:a16="http://schemas.microsoft.com/office/drawing/2014/main" id="{D186CFDC-1A03-411C-9094-D51B0934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47800"/>
            <a:ext cx="3571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pi-state-3">
            <a:extLst xmlns:a="http://schemas.openxmlformats.org/drawingml/2006/main">
              <a:ext uri="{FF2B5EF4-FFF2-40B4-BE49-F238E27FC236}">
                <a16:creationId xmlns:a16="http://schemas.microsoft.com/office/drawing/2014/main" id="{732DE09C-04F6-4E39-A0E7-70AA588E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859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PUBLIÉ</a:t>
            </a:r>
          </a:p>
        </p:txBody>
      </p:sp>
      <p:sp>
        <p:nvSpPr>
          <p:cNvPr id="12" name="api-label-3">
            <a:extLst xmlns:a="http://schemas.openxmlformats.org/drawingml/2006/main">
              <a:ext uri="{FF2B5EF4-FFF2-40B4-BE49-F238E27FC236}">
                <a16:creationId xmlns:a16="http://schemas.microsoft.com/office/drawing/2014/main" id="{53A97A62-4521-4224-A8DD-5896CAA9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13" name="api-detail-3">
            <a:extLst xmlns:a="http://schemas.openxmlformats.org/drawingml/2006/main">
              <a:ext uri="{FF2B5EF4-FFF2-40B4-BE49-F238E27FC236}">
                <a16:creationId xmlns:a16="http://schemas.microsoft.com/office/drawing/2014/main" id="{08B00BEB-5B3C-4CCB-9016-4E33E099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com.tanuki75.noctalia</a:t>
            </a:r>
          </a:p>
          <a:p xmlns:a="http://schemas.openxmlformats.org/drawingml/2006/main">
            <a:pPr algn="l">
              <a:def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4E535A"/>
                </a:solidFill>
                <a:latin typeface="Helvetica Neue"/>
                <a:ea typeface="Helvetica Neue"/>
                <a:cs typeface="Helvetica Neue"/>
              </a:rPr>
              <a:t>localisation fr-FR</a:t>
            </a:r>
          </a:p>
        </p:txBody>
      </p:sp>
      <p:sp>
        <p:nvSpPr>
          <p:cNvPr id="14" name="oauth-panel">
            <a:extLst xmlns:a="http://schemas.openxmlformats.org/drawingml/2006/main">
              <a:ext uri="{FF2B5EF4-FFF2-40B4-BE49-F238E27FC236}">
                <a16:creationId xmlns:a16="http://schemas.microsoft.com/office/drawing/2014/main" id="{36C9A3BA-0FF7-408E-A58E-38C10FAE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114109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FFAF3"/>
          </a:solidFill>
          <a:ln xmlns:a="http://schemas.openxmlformats.org/drawingml/2006/main" w="9525">
            <a:solidFill>
              <a:srgbClr val="61A978"/>
            </a:solidFill>
            <a:prstDash val="solid"/>
          </a:ln>
        </p:spPr>
      </p:sp>
      <p:sp>
        <p:nvSpPr>
          <p:cNvPr id="15" name="oauth-heading">
            <a:extLst xmlns:a="http://schemas.openxmlformats.org/drawingml/2006/main">
              <a:ext uri="{FF2B5EF4-FFF2-40B4-BE49-F238E27FC236}">
                <a16:creationId xmlns:a16="http://schemas.microsoft.com/office/drawing/2014/main" id="{3CF3F5CF-E563-4989-8E9F-706974F8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Mise à jour vérifiée</a:t>
            </a:r>
          </a:p>
        </p:txBody>
      </p:sp>
      <p:sp>
        <p:nvSpPr>
          <p:cNvPr id="16" name="oauth-body">
            <a:extLst xmlns:a="http://schemas.openxmlformats.org/drawingml/2006/main">
              <a:ext uri="{FF2B5EF4-FFF2-40B4-BE49-F238E27FC236}">
                <a16:creationId xmlns:a16="http://schemas.microsoft.com/office/drawing/2014/main" id="{7D477E0B-D01D-46BA-8D1D-A4809BF7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 commit 9257904043836600153 a été accepté. Une nouvelle lecture confirme la description courte fr-FR, 7 captures téléphone et aucune erreur. La fiche en-US conserve ses 7 visuels existants.</a:t>
            </a:r>
          </a:p>
        </p:txBody>
      </p:sp>
      <p:sp>
        <p:nvSpPr>
          <p:cNvPr id="17" name="source-09">
            <a:extLst xmlns:a="http://schemas.openxmlformats.org/drawingml/2006/main">
              <a:ext uri="{FF2B5EF4-FFF2-40B4-BE49-F238E27FC236}">
                <a16:creationId xmlns:a16="http://schemas.microsoft.com/office/drawing/2014/main" id="{E69E67C7-024D-48D1-AC6B-836F6A93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Preuve : Android Publisher API, commit puis nouvelle lecture du 16/07/2026.</a:t>
            </a:r>
          </a:p>
        </p:txBody>
      </p:sp>
      <p:sp>
        <p:nvSpPr>
          <p:cNvPr id="18" name="page-09">
            <a:extLst xmlns:a="http://schemas.openxmlformats.org/drawingml/2006/main">
              <a:ext uri="{FF2B5EF4-FFF2-40B4-BE49-F238E27FC236}">
                <a16:creationId xmlns:a16="http://schemas.microsoft.com/office/drawing/2014/main" id="{24B1002E-24E6-4E33-95A4-78A27C74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667313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C9D9353-9EB2-4833-9378-D5ED14A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B596831-64A7-4A44-B220-8732C92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 suivi sur 30 jours transforme le lancement en boucle d’amélioration</a:t>
            </a:r>
          </a:p>
        </p:txBody>
      </p:sp>
      <p:cxnSp>
        <p:nvCxnSpPr>
          <p:cNvPr id="19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9D96A21-64C0-4FC8-BDEB-0E37C74A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C49AFA0-7CFA-4913-8B88-5572EF29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63374CB-7B7B-413B-B03D-6753328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B5128B5-1463-4535-AD7D-1E3B5F7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J0–J2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9D4DCF3-9D5E-4A29-A87C-401F9FF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J3–J7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FF22FC0-9DE5-4984-AF47-3E945E49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J8–J30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9A2F93D-65F9-4D13-979A-038F5CE6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Mesurer</a:t>
            </a:r>
            <a:br/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Suivre impressions, acquisitions et conversion de la nouvelle fiche.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BF94DE6-68A6-4A69-9AFA-7270B14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Publier</a:t>
            </a:r>
            <a:br/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Fiche fr-FR et 7 captures publiées via l’API Google Play.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D4BC3C9-7B87-4D1E-9BD3-53F02A08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Étendre</a:t>
            </a:r>
            <a:br/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Localiser les visuels clés et lancer un test quand le volume le permet.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F1A22C2-77F5-40AE-B861-F1A84F39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293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Recommandation issue du diagnostic Google Play du 16/07/2026.</a:t>
            </a:r>
          </a:p>
        </p:txBody>
      </p:sp>
    </p:spTree>
    <p:extLst>
      <p:ext uri="{BB962C8B-B14F-4D97-AF65-F5344CB8AC3E}">
        <p14:creationId xmlns:p14="http://schemas.microsoft.com/office/powerpoint/2010/main" val="191327090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A0FC16F0-4691-48C5-8A03-E6292CF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Augmenter la portée,
mesurer la V3,
puis optimiser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A07974D-4E4A-43F6-AD70-B191684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</a:t>
            </a:r>
            <a:r>
              <a:t>Mesurer fr-FR</a:t>
            </a:r>
          </a:p>
          <a:p xmlns:a="http://schemas.openxmlformats.org/drawingml/2006/main">
            <a:pPr algn="l"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</a:t>
            </a:r>
            <a:r>
              <a:t>Localiser les visuels</a:t>
            </a:r>
          </a:p>
          <a:p xmlns:a="http://schemas.openxmlformats.org/drawingml/2006/main">
            <a:pPr algn="l"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</a:t>
            </a:r>
            <a:r>
              <a:t>Suivre les KPI V3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5C0BE17-08EA-48C5-B357-2E00F35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DÉCISION</a:t>
            </a:r>
          </a:p>
        </p:txBody>
      </p:sp>
      <p:sp>
        <p:nvSpPr>
          <p:cNvPr id="4" name="deck-context">
            <a:extLst xmlns:a="http://schemas.openxmlformats.org/drawingml/2006/main">
              <a:ext uri="{FF2B5EF4-FFF2-40B4-BE49-F238E27FC236}">
                <a16:creationId xmlns:a16="http://schemas.microsoft.com/office/drawing/2014/main" id="{01FDBE48-027D-4070-9964-6041E4A9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 30 JOURS</a:t>
            </a:r>
          </a:p>
        </p:txBody>
      </p:sp>
    </p:spTree>
    <p:extLst>
      <p:ext uri="{BB962C8B-B14F-4D97-AF65-F5344CB8AC3E}">
        <p14:creationId xmlns:p14="http://schemas.microsoft.com/office/powerpoint/2010/main" val="449053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2026-07-16T18:00:15.1680000Z</dcterms:created>
  <dcterms:modified xsi:type="dcterms:W3CDTF">2026-07-16T18:00:15.1680000Z</dcterms:modified>
</coreProperties>
</file>